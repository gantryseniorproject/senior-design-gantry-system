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Montserrat"/>
      <p:regular r:id="rId12"/>
      <p:bold r:id="rId13"/>
      <p:italic r:id="rId14"/>
      <p:boldItalic r:id="rId15"/>
    </p:embeddedFont>
    <p:embeddedFont>
      <p:font typeface="Lato"/>
      <p:regular r:id="rId16"/>
      <p:bold r:id="rId17"/>
      <p:italic r:id="rId18"/>
      <p:boldItalic r:id="rId19"/>
    </p:embeddedFont>
    <p:embeddedFont>
      <p:font typeface="Montserrat Medium"/>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Medium-regular.fntdata"/><Relationship Id="rId11" Type="http://schemas.openxmlformats.org/officeDocument/2006/relationships/slide" Target="slides/slide6.xml"/><Relationship Id="rId22" Type="http://schemas.openxmlformats.org/officeDocument/2006/relationships/font" Target="fonts/MontserratMedium-italic.fntdata"/><Relationship Id="rId10" Type="http://schemas.openxmlformats.org/officeDocument/2006/relationships/slide" Target="slides/slide5.xml"/><Relationship Id="rId21" Type="http://schemas.openxmlformats.org/officeDocument/2006/relationships/font" Target="fonts/MontserratMedium-bold.fntdata"/><Relationship Id="rId13" Type="http://schemas.openxmlformats.org/officeDocument/2006/relationships/font" Target="fonts/Montserrat-bold.fntdata"/><Relationship Id="rId12" Type="http://schemas.openxmlformats.org/officeDocument/2006/relationships/font" Target="fonts/Montserrat-regular.fntdata"/><Relationship Id="rId23" Type="http://schemas.openxmlformats.org/officeDocument/2006/relationships/font" Target="fonts/Montserrat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Italic.fntdata"/><Relationship Id="rId14" Type="http://schemas.openxmlformats.org/officeDocument/2006/relationships/font" Target="fonts/Montserrat-italic.fntdata"/><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notesMaster" Target="notesMasters/notesMaster1.xml"/><Relationship Id="rId19" Type="http://schemas.openxmlformats.org/officeDocument/2006/relationships/font" Target="fonts/Lato-boldItalic.fntdata"/><Relationship Id="rId6" Type="http://schemas.openxmlformats.org/officeDocument/2006/relationships/slide" Target="slides/slide1.xml"/><Relationship Id="rId18"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b456ff1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b456ff1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Petition for asmr tex:</a:t>
            </a:r>
            <a:endParaRPr/>
          </a:p>
          <a:p>
            <a:pPr indent="0" lvl="0" marL="0" rtl="0" algn="l">
              <a:spcBef>
                <a:spcPts val="0"/>
              </a:spcBef>
              <a:spcAft>
                <a:spcPts val="0"/>
              </a:spcAft>
              <a:buNone/>
            </a:pPr>
            <a:r>
              <a:rPr lang="en"/>
              <a:t>IP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46d5b783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46d5b783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b46d5b783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b46d5b783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b46d5b783_1_1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b46d5b783_1_1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b46d5b783_1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b46d5b783_1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b456ff1e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b456ff1e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i need a title page for our gantry system project" id="134" name="Google Shape;134;p13"/>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35" name="Google Shape;135;p13"/>
          <p:cNvSpPr/>
          <p:nvPr/>
        </p:nvSpPr>
        <p:spPr>
          <a:xfrm>
            <a:off x="6536725" y="4274025"/>
            <a:ext cx="2309400" cy="633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Submitted by: Gantry Project Team [Tex, Jael, Imprezz, Ricardo, Lance]</a:t>
            </a:r>
            <a:endParaRPr sz="11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460"/>
              <a:t>Current Direction: Trouble in hobbyists paradise? Lifting Problems?</a:t>
            </a:r>
            <a:endParaRPr b="1" sz="2460"/>
          </a:p>
        </p:txBody>
      </p:sp>
      <p:sp>
        <p:nvSpPr>
          <p:cNvPr id="141" name="Google Shape;141;p14"/>
          <p:cNvSpPr txBox="1"/>
          <p:nvPr/>
        </p:nvSpPr>
        <p:spPr>
          <a:xfrm>
            <a:off x="772875" y="1471225"/>
            <a:ext cx="7563600" cy="287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300">
              <a:solidFill>
                <a:schemeClr val="lt1"/>
              </a:solidFill>
              <a:latin typeface="Montserrat"/>
              <a:ea typeface="Montserrat"/>
              <a:cs typeface="Montserrat"/>
              <a:sym typeface="Montserrat"/>
            </a:endParaRPr>
          </a:p>
          <a:p>
            <a:pPr indent="0" lvl="0" marL="0" rtl="0" algn="ctr">
              <a:spcBef>
                <a:spcPts val="0"/>
              </a:spcBef>
              <a:spcAft>
                <a:spcPts val="0"/>
              </a:spcAft>
              <a:buNone/>
            </a:pPr>
            <a:r>
              <a:rPr b="1" lang="en" sz="1900">
                <a:solidFill>
                  <a:schemeClr val="lt1"/>
                </a:solidFill>
                <a:latin typeface="Montserrat"/>
                <a:ea typeface="Montserrat"/>
                <a:cs typeface="Montserrat"/>
                <a:sym typeface="Montserrat"/>
              </a:rPr>
              <a:t>Our project is to build a </a:t>
            </a:r>
            <a:r>
              <a:rPr b="1" lang="en" sz="1900">
                <a:solidFill>
                  <a:schemeClr val="lt1"/>
                </a:solidFill>
                <a:latin typeface="Montserrat"/>
                <a:ea typeface="Montserrat"/>
                <a:cs typeface="Montserrat"/>
                <a:sym typeface="Montserrat"/>
              </a:rPr>
              <a:t>suspended gantry system that can function in a variety of different workspaces, with adaptability through multiple different attachments that can be added on top of the current gantry system. This gives flexibility for manual user controls and additional automated functionality</a:t>
            </a:r>
            <a:endParaRPr b="1" sz="1900">
              <a:solidFill>
                <a:schemeClr val="lt1"/>
              </a:solidFill>
              <a:latin typeface="Montserrat"/>
              <a:ea typeface="Montserrat"/>
              <a:cs typeface="Montserrat"/>
              <a:sym typeface="Montserrat"/>
            </a:endParaRPr>
          </a:p>
          <a:p>
            <a:pPr indent="0" lvl="0" marL="0" rtl="0" algn="ctr">
              <a:spcBef>
                <a:spcPts val="0"/>
              </a:spcBef>
              <a:spcAft>
                <a:spcPts val="0"/>
              </a:spcAft>
              <a:buNone/>
            </a:pPr>
            <a:r>
              <a:t/>
            </a:r>
            <a:endParaRPr sz="1900">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sz="1300">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sz="13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000"/>
              <a:t>What We’re Programming</a:t>
            </a:r>
            <a:endParaRPr b="1" sz="3000"/>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Font typeface="Arial"/>
              <a:buChar char="●"/>
            </a:pPr>
            <a:r>
              <a:rPr b="1" lang="en" sz="2400">
                <a:latin typeface="Arial"/>
                <a:ea typeface="Arial"/>
                <a:cs typeface="Arial"/>
                <a:sym typeface="Arial"/>
              </a:rPr>
              <a:t>Pathfinding</a:t>
            </a:r>
            <a:endParaRPr b="1" sz="2400">
              <a:latin typeface="Arial"/>
              <a:ea typeface="Arial"/>
              <a:cs typeface="Arial"/>
              <a:sym typeface="Arial"/>
            </a:endParaRPr>
          </a:p>
          <a:p>
            <a:pPr indent="-381000" lvl="0" marL="457200" rtl="0" algn="l">
              <a:spcBef>
                <a:spcPts val="0"/>
              </a:spcBef>
              <a:spcAft>
                <a:spcPts val="0"/>
              </a:spcAft>
              <a:buSzPts val="2400"/>
              <a:buFont typeface="Arial"/>
              <a:buChar char="●"/>
            </a:pPr>
            <a:r>
              <a:rPr b="1" lang="en" sz="2400">
                <a:latin typeface="Arial"/>
                <a:ea typeface="Arial"/>
                <a:cs typeface="Arial"/>
                <a:sym typeface="Arial"/>
              </a:rPr>
              <a:t>Simulation and virtual testing</a:t>
            </a:r>
            <a:endParaRPr b="1" sz="2400">
              <a:latin typeface="Arial"/>
              <a:ea typeface="Arial"/>
              <a:cs typeface="Arial"/>
              <a:sym typeface="Arial"/>
            </a:endParaRPr>
          </a:p>
          <a:p>
            <a:pPr indent="-381000" lvl="0" marL="457200" rtl="0" algn="l">
              <a:spcBef>
                <a:spcPts val="0"/>
              </a:spcBef>
              <a:spcAft>
                <a:spcPts val="0"/>
              </a:spcAft>
              <a:buSzPts val="2400"/>
              <a:buFont typeface="Arial"/>
              <a:buChar char="●"/>
            </a:pPr>
            <a:r>
              <a:rPr b="1" lang="en" sz="2400">
                <a:latin typeface="Arial"/>
                <a:ea typeface="Arial"/>
                <a:cs typeface="Arial"/>
                <a:sym typeface="Arial"/>
              </a:rPr>
              <a:t>Sensor communication and processing</a:t>
            </a:r>
            <a:endParaRPr b="1" sz="2400">
              <a:latin typeface="Arial"/>
              <a:ea typeface="Arial"/>
              <a:cs typeface="Arial"/>
              <a:sym typeface="Arial"/>
            </a:endParaRPr>
          </a:p>
          <a:p>
            <a:pPr indent="-381000" lvl="0" marL="457200" rtl="0" algn="l">
              <a:spcBef>
                <a:spcPts val="0"/>
              </a:spcBef>
              <a:spcAft>
                <a:spcPts val="0"/>
              </a:spcAft>
              <a:buSzPts val="2400"/>
              <a:buFont typeface="Arial"/>
              <a:buChar char="●"/>
            </a:pPr>
            <a:r>
              <a:rPr b="1" lang="en" sz="2400">
                <a:latin typeface="Arial"/>
                <a:ea typeface="Arial"/>
                <a:cs typeface="Arial"/>
                <a:sym typeface="Arial"/>
              </a:rPr>
              <a:t>User interfaces and communication</a:t>
            </a:r>
            <a:endParaRPr b="1" sz="2400">
              <a:latin typeface="Arial"/>
              <a:ea typeface="Arial"/>
              <a:cs typeface="Arial"/>
              <a:sym typeface="Arial"/>
            </a:endParaRPr>
          </a:p>
          <a:p>
            <a:pPr indent="-381000" lvl="0" marL="457200" rtl="0" algn="l">
              <a:spcBef>
                <a:spcPts val="0"/>
              </a:spcBef>
              <a:spcAft>
                <a:spcPts val="0"/>
              </a:spcAft>
              <a:buSzPts val="2400"/>
              <a:buFont typeface="Arial"/>
              <a:buChar char="●"/>
            </a:pPr>
            <a:r>
              <a:rPr b="1" lang="en" sz="2400">
                <a:latin typeface="Arial"/>
                <a:ea typeface="Arial"/>
                <a:cs typeface="Arial"/>
                <a:sym typeface="Arial"/>
              </a:rPr>
              <a:t>Diagnostics and safe shutdown</a:t>
            </a:r>
            <a:endParaRPr b="1" sz="2400">
              <a:latin typeface="Arial"/>
              <a:ea typeface="Arial"/>
              <a:cs typeface="Arial"/>
              <a:sym typeface="Arial"/>
            </a:endParaRPr>
          </a:p>
          <a:p>
            <a:pPr indent="-381000" lvl="0" marL="457200" rtl="0" algn="l">
              <a:spcBef>
                <a:spcPts val="0"/>
              </a:spcBef>
              <a:spcAft>
                <a:spcPts val="1000"/>
              </a:spcAft>
              <a:buSzPts val="2400"/>
              <a:buFont typeface="Arial"/>
              <a:buChar char="●"/>
            </a:pPr>
            <a:r>
              <a:rPr b="1" lang="en" sz="2400">
                <a:latin typeface="Arial"/>
                <a:ea typeface="Arial"/>
                <a:cs typeface="Arial"/>
                <a:sym typeface="Arial"/>
              </a:rPr>
              <a:t>Software Integration</a:t>
            </a:r>
            <a:endParaRPr b="1" sz="24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197575" y="37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Pathfinding Algorithms</a:t>
            </a:r>
            <a:endParaRPr b="1"/>
          </a:p>
        </p:txBody>
      </p:sp>
      <p:sp>
        <p:nvSpPr>
          <p:cNvPr id="153" name="Google Shape;153;p16"/>
          <p:cNvSpPr txBox="1"/>
          <p:nvPr/>
        </p:nvSpPr>
        <p:spPr>
          <a:xfrm>
            <a:off x="792650" y="1665200"/>
            <a:ext cx="7443900" cy="2690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A* algorithm </a:t>
            </a:r>
            <a:r>
              <a:rPr lang="en" sz="1800">
                <a:solidFill>
                  <a:schemeClr val="lt1"/>
                </a:solidFill>
                <a:latin typeface="Lato"/>
                <a:ea typeface="Lato"/>
                <a:cs typeface="Lato"/>
                <a:sym typeface="Lato"/>
              </a:rPr>
              <a:t>over Greedy best first and Dijkstr</a:t>
            </a:r>
            <a:r>
              <a:rPr lang="en" sz="1800">
                <a:solidFill>
                  <a:schemeClr val="lt1"/>
                </a:solidFill>
                <a:latin typeface="Lato"/>
                <a:ea typeface="Lato"/>
                <a:cs typeface="Lato"/>
                <a:sym typeface="Lato"/>
              </a:rPr>
              <a:t>a</a:t>
            </a:r>
            <a:br>
              <a:rPr lang="en" sz="1800">
                <a:solidFill>
                  <a:schemeClr val="lt1"/>
                </a:solidFill>
                <a:latin typeface="Lato"/>
                <a:ea typeface="Lato"/>
                <a:cs typeface="Lato"/>
                <a:sym typeface="Lato"/>
              </a:rPr>
            </a:b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Bresenham algorithm</a:t>
            </a:r>
            <a:br>
              <a:rPr lang="en" sz="1800">
                <a:solidFill>
                  <a:schemeClr val="lt1"/>
                </a:solidFill>
                <a:latin typeface="Lato"/>
                <a:ea typeface="Lato"/>
                <a:cs typeface="Lato"/>
                <a:sym typeface="Lato"/>
              </a:rPr>
            </a:b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S curve </a:t>
            </a:r>
            <a:r>
              <a:rPr lang="en" sz="1800">
                <a:solidFill>
                  <a:schemeClr val="lt1"/>
                </a:solidFill>
                <a:latin typeface="Lato"/>
                <a:ea typeface="Lato"/>
                <a:cs typeface="Lato"/>
                <a:sym typeface="Lato"/>
              </a:rPr>
              <a:t>acceleration</a:t>
            </a:r>
            <a:r>
              <a:rPr lang="en" sz="1800">
                <a:solidFill>
                  <a:schemeClr val="lt1"/>
                </a:solidFill>
                <a:latin typeface="Lato"/>
                <a:ea typeface="Lato"/>
                <a:cs typeface="Lato"/>
                <a:sym typeface="Lato"/>
              </a:rPr>
              <a:t> </a:t>
            </a:r>
            <a:br>
              <a:rPr lang="en" sz="1800">
                <a:solidFill>
                  <a:schemeClr val="lt1"/>
                </a:solidFill>
                <a:latin typeface="Lato"/>
                <a:ea typeface="Lato"/>
                <a:cs typeface="Lato"/>
                <a:sym typeface="Lato"/>
              </a:rPr>
            </a:b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Queued execution sequence</a:t>
            </a:r>
            <a:br>
              <a:rPr lang="en" sz="1800">
                <a:solidFill>
                  <a:schemeClr val="lt1"/>
                </a:solidFill>
                <a:latin typeface="Lato"/>
                <a:ea typeface="Lato"/>
                <a:cs typeface="Lato"/>
                <a:sym typeface="Lato"/>
              </a:rPr>
            </a:b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Queue -&gt; A* -&gt; Path Simplification -&gt; Bresenham -&gt; Motion</a:t>
            </a:r>
            <a:endParaRPr sz="18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430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  </a:t>
            </a:r>
            <a:r>
              <a:rPr b="1" lang="en" sz="9600"/>
              <a:t>Questions?</a:t>
            </a:r>
            <a:endParaRPr b="1" sz="9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nano banana 2" id="163" name="Google Shape;163;p18"/>
          <p:cNvPicPr preferRelativeResize="0"/>
          <p:nvPr/>
        </p:nvPicPr>
        <p:blipFill>
          <a:blip r:embed="rId3">
            <a:alphaModFix/>
          </a:blip>
          <a:stretch>
            <a:fillRect/>
          </a:stretch>
        </p:blipFill>
        <p:spPr>
          <a:xfrm>
            <a:off x="0" y="0"/>
            <a:ext cx="9144000" cy="50998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